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ounded Rectangle 1"/>
          <p:cNvSpPr/>
          <p:nvPr/>
        </p:nvSpPr>
        <p:spPr>
          <a:xfrm>
            <a:off x="1097280" y="1371600"/>
            <a:ext cx="9997135" cy="4114800"/>
          </a:xfrm>
          <a:prstGeom prst="roundRect">
            <a:avLst/>
          </a:prstGeom>
          <a:solidFill>
            <a:srgbClr val="141E32"/>
          </a:solidFill>
          <a:ln w="12700">
            <a:solidFill>
              <a:srgbClr val="00D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463040" y="1737360"/>
            <a:ext cx="9265615" cy="3383280"/>
          </a:xfrm>
          <a:prstGeom prst="rect">
            <a:avLst/>
          </a:prstGeom>
          <a:noFill/>
        </p:spPr>
        <p:txBody>
          <a:bodyPr wrap="square">
            <a:spAutoFit/>
          </a:bodyPr>
          <a:lstStyle/>
          <a:p>
            <a:pPr>
              <a:defRPr sz="4400" b="1">
                <a:solidFill>
                  <a:srgbClr val="00DC82"/>
                </a:solidFill>
              </a:defRPr>
            </a:pPr>
            <a:r>
              <a:t>ARGUS</a:t>
            </a:r>
          </a:p>
          <a:p>
            <a:pPr>
              <a:spcBef>
                <a:spcPts val="800"/>
              </a:spcBef>
              <a:defRPr sz="2600" b="1">
                <a:solidFill>
                  <a:srgbClr val="F8FAFC"/>
                </a:solidFill>
              </a:defRPr>
            </a:pPr>
            <a:r>
              <a:t>Real-Time AI Surveillance &amp; Efficient VLM Reasoning</a:t>
            </a:r>
          </a:p>
          <a:p>
            <a:pPr>
              <a:spcBef>
                <a:spcPts val="1200"/>
              </a:spcBef>
              <a:defRPr sz="1500">
                <a:solidFill>
                  <a:srgbClr val="38BDF8"/>
                </a:solidFill>
              </a:defRPr>
            </a:pPr>
            <a:r>
              <a:t>Semantic Understanding &amp; Query System with Optimized Visual Tokens &amp; KV Cache Architecture</a:t>
            </a:r>
          </a:p>
          <a:p>
            <a:pPr>
              <a:spcBef>
                <a:spcPts val="2400"/>
              </a:spcBef>
              <a:defRPr sz="1300">
                <a:solidFill>
                  <a:srgbClr val="94A3B8"/>
                </a:solidFill>
              </a:defRPr>
            </a:pPr>
            <a:r>
              <a:t>Milestone Presentation: VLM Optimization Subsystem  |  Validated on NVIDIA Tesla T4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00DC82"/>
                </a:solidFill>
              </a:defRPr>
            </a:pPr>
            <a:r>
              <a:t>ARGUS // VLM SURVEILLANCE OPTIMIZATION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The Problem: Why Continuous VLM Processing is Expensive</a:t>
            </a:r>
          </a:p>
        </p:txBody>
      </p:sp>
      <p:sp>
        <p:nvSpPr>
          <p:cNvPr id="4" name="Rounded Rectangle 3"/>
          <p:cNvSpPr/>
          <p:nvPr/>
        </p:nvSpPr>
        <p:spPr>
          <a:xfrm>
            <a:off x="731520" y="1645920"/>
            <a:ext cx="3328416" cy="438912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62656" cy="4023360"/>
          </a:xfrm>
          <a:prstGeom prst="rect">
            <a:avLst/>
          </a:prstGeom>
          <a:noFill/>
        </p:spPr>
        <p:txBody>
          <a:bodyPr wrap="square">
            <a:spAutoFit/>
          </a:bodyPr>
          <a:lstStyle/>
          <a:p>
            <a:pPr>
              <a:defRPr sz="1800" b="1">
                <a:solidFill>
                  <a:srgbClr val="00DC82"/>
                </a:solidFill>
              </a:defRPr>
            </a:pPr>
            <a:r>
              <a:t>1. Visual Token Explosion</a:t>
            </a:r>
          </a:p>
          <a:p>
            <a:br/>
            <a:pPr>
              <a:defRPr sz="1300">
                <a:solidFill>
                  <a:srgbClr val="94A3B8"/>
                </a:solidFill>
              </a:defRPr>
            </a:pPr>
            <a:r>
              <a:t>• Fixed camera feeds capture high-resolution frames (e.g. 640x480 or 1080p).</a:t>
            </a:r>
            <a:br/>
            <a:br/>
            <a:r>
              <a:t>• Each frame converts into 390 to 1,000+ visual patch tokens.</a:t>
            </a:r>
            <a:br/>
            <a:br/>
            <a:r>
              <a:t>• In continuous surveillance, 90%+ of background patches (walls, floors) never change, yet consume full token bandwidth.</a:t>
            </a:r>
          </a:p>
        </p:txBody>
      </p:sp>
      <p:sp>
        <p:nvSpPr>
          <p:cNvPr id="6" name="Rounded Rectangle 5"/>
          <p:cNvSpPr/>
          <p:nvPr/>
        </p:nvSpPr>
        <p:spPr>
          <a:xfrm>
            <a:off x="4425696" y="1645920"/>
            <a:ext cx="3328416" cy="438912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828800"/>
            <a:ext cx="2962656" cy="4023360"/>
          </a:xfrm>
          <a:prstGeom prst="rect">
            <a:avLst/>
          </a:prstGeom>
          <a:noFill/>
        </p:spPr>
        <p:txBody>
          <a:bodyPr wrap="square">
            <a:spAutoFit/>
          </a:bodyPr>
          <a:lstStyle/>
          <a:p>
            <a:pPr>
              <a:defRPr sz="1800" b="1">
                <a:solidFill>
                  <a:srgbClr val="38BDF8"/>
                </a:solidFill>
              </a:defRPr>
            </a:pPr>
            <a:r>
              <a:t>2. KV Cache Memory Wall</a:t>
            </a:r>
          </a:p>
          <a:p>
            <a:br/>
            <a:pPr>
              <a:defRPr sz="1300">
                <a:solidFill>
                  <a:srgbClr val="94A3B8"/>
                </a:solidFill>
              </a:defRPr>
            </a:pPr>
            <a:r>
              <a:t>• Past Key-Values (KV cache) must be stored across frames for multi-frame reasoning.</a:t>
            </a:r>
            <a:br/>
            <a:br/>
            <a:r>
              <a:t>• Across 100 frames, token count exceeds 44,000 tokens.</a:t>
            </a:r>
            <a:br/>
            <a:br/>
            <a:r>
              <a:t>• KV cache expands linearly in memory, causing Out-Of-Memory (OOM) crashes on standard 16GB GPUs.</a:t>
            </a:r>
          </a:p>
        </p:txBody>
      </p:sp>
      <p:sp>
        <p:nvSpPr>
          <p:cNvPr id="8" name="Rounded Rectangle 7"/>
          <p:cNvSpPr/>
          <p:nvPr/>
        </p:nvSpPr>
        <p:spPr>
          <a:xfrm>
            <a:off x="8119872" y="1645920"/>
            <a:ext cx="3328416" cy="438912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28800"/>
            <a:ext cx="2962656" cy="4023360"/>
          </a:xfrm>
          <a:prstGeom prst="rect">
            <a:avLst/>
          </a:prstGeom>
          <a:noFill/>
        </p:spPr>
        <p:txBody>
          <a:bodyPr wrap="square">
            <a:spAutoFit/>
          </a:bodyPr>
          <a:lstStyle/>
          <a:p>
            <a:pPr>
              <a:defRPr sz="1800" b="1">
                <a:solidFill>
                  <a:srgbClr val="F59E0B"/>
                </a:solidFill>
              </a:defRPr>
            </a:pPr>
            <a:r>
              <a:t>3. Extreme Prefill Latency</a:t>
            </a:r>
          </a:p>
          <a:p>
            <a:br/>
            <a:pPr>
              <a:defRPr sz="1300">
                <a:solidFill>
                  <a:srgbClr val="94A3B8"/>
                </a:solidFill>
              </a:defRPr>
            </a:pPr>
            <a:r>
              <a:t>• Transformer attention prefill scales quadratically with sequence length: O(N²).</a:t>
            </a:r>
            <a:br/>
            <a:br/>
            <a:r>
              <a:t>• Processing 44,200 unpruned tokens took 60.43 seconds just for prefill.</a:t>
            </a:r>
            <a:br/>
            <a:br/>
            <a:r>
              <a:t>• A 60-second delay completely breaks real-time surveillance requirements.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00DC82"/>
                </a:solidFill>
              </a:defRPr>
            </a:pPr>
            <a:r>
              <a:t>ARGUS // VLM SURVEILLANCE OPTIMIZATION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Current Implementation: Validated VLM Subsystem</a:t>
            </a:r>
          </a:p>
        </p:txBody>
      </p:sp>
      <p:sp>
        <p:nvSpPr>
          <p:cNvPr id="4" name="Rounded Rectangle 3"/>
          <p:cNvSpPr/>
          <p:nvPr/>
        </p:nvSpPr>
        <p:spPr>
          <a:xfrm>
            <a:off x="731520" y="1645920"/>
            <a:ext cx="5120640" cy="438912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defRPr sz="1800" b="1">
                <a:solidFill>
                  <a:srgbClr val="00DC82"/>
                </a:solidFill>
              </a:defRPr>
            </a:pPr>
            <a:r>
              <a:t>Qwen2.5-VL-3B Core Architecture</a:t>
            </a:r>
          </a:p>
          <a:p>
            <a:br/>
            <a:pPr>
              <a:defRPr sz="1300">
                <a:solidFill>
                  <a:srgbClr val="F8FAFC"/>
                </a:solidFill>
              </a:defRPr>
            </a:pPr>
            <a:r>
              <a:t>• Model: Qwen/Qwen2.5-VL-3B-Instruct</a:t>
            </a:r>
            <a:br/>
            <a:r>
              <a:t>• Native Resolution: Dynamic 2D spatial patch merging</a:t>
            </a:r>
            <a:br/>
            <a:r>
              <a:t>• Pre-merge Hooking: Registered forward hooks on vision_model.merger to intercept raw ViT patch embeddings before spatial 2x2 pooling.</a:t>
            </a:r>
            <a:br/>
            <a:r>
              <a:t>• 3D RoPE Alignment: Modified positional IDs to maintain exact spatial-temporal coherence after token slicing.</a:t>
            </a:r>
          </a:p>
        </p:txBody>
      </p:sp>
      <p:sp>
        <p:nvSpPr>
          <p:cNvPr id="6" name="Rounded Rectangle 5"/>
          <p:cNvSpPr/>
          <p:nvPr/>
        </p:nvSpPr>
        <p:spPr>
          <a:xfrm>
            <a:off x="6217920" y="1645920"/>
            <a:ext cx="5212080" cy="438912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023360"/>
          </a:xfrm>
          <a:prstGeom prst="rect">
            <a:avLst/>
          </a:prstGeom>
          <a:noFill/>
        </p:spPr>
        <p:txBody>
          <a:bodyPr wrap="square">
            <a:spAutoFit/>
          </a:bodyPr>
          <a:lstStyle/>
          <a:p>
            <a:pPr>
              <a:defRPr sz="1800" b="1">
                <a:solidFill>
                  <a:srgbClr val="38BDF8"/>
                </a:solidFill>
              </a:defRPr>
            </a:pPr>
            <a:r>
              <a:t>Optimization Mechanisms</a:t>
            </a:r>
          </a:p>
          <a:p>
            <a:br/>
            <a:pPr>
              <a:defRPr sz="1300">
                <a:solidFill>
                  <a:srgbClr val="F8FAFC"/>
                </a:solidFill>
              </a:defRPr>
            </a:pPr>
            <a:r>
              <a:t>• Temporal Token Pruning: Cosine similarity threshold (0.98) on consecutive frame patches; filters unchanged background.</a:t>
            </a:r>
            <a:br/>
            <a:r>
              <a:t>• Minimum Keep Safety: enforce_minimum_keep_ratio(0.05) ensures frame representation never completely vanishes.</a:t>
            </a:r>
            <a:br/>
            <a:r>
              <a:t>• Quantized KV Cache: Evaluated DynamicCache (FP16) vs. HQQ INT8 and INT4 QuantizedCache.</a:t>
            </a:r>
            <a:br/>
            <a:r>
              <a:t>• Verification: 100-frame video accumulation tested on Tesla T4.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00DC82"/>
                </a:solidFill>
              </a:defRPr>
            </a:pPr>
            <a:r>
              <a:t>ARGUS // VLM SURVEILLANCE OPTIMIZATION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Long-Context Experiment: 100 Frames / 120.3 Seconds</a:t>
            </a:r>
          </a:p>
        </p:txBody>
      </p:sp>
      <p:sp>
        <p:nvSpPr>
          <p:cNvPr id="4" name="Rounded Rectangle 3"/>
          <p:cNvSpPr/>
          <p:nvPr/>
        </p:nvSpPr>
        <p:spPr>
          <a:xfrm>
            <a:off x="731520" y="1645920"/>
            <a:ext cx="2560320" cy="146304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37360"/>
            <a:ext cx="2286000" cy="1280160"/>
          </a:xfrm>
          <a:prstGeom prst="rect">
            <a:avLst/>
          </a:prstGeom>
          <a:noFill/>
        </p:spPr>
        <p:txBody>
          <a:bodyPr wrap="square">
            <a:spAutoFit/>
          </a:bodyPr>
          <a:lstStyle/>
          <a:p>
            <a:pPr>
              <a:defRPr sz="1100" b="1">
                <a:solidFill>
                  <a:srgbClr val="94A3B8"/>
                </a:solidFill>
              </a:defRPr>
            </a:pPr>
            <a:r>
              <a:t>VIDEO DURATION</a:t>
            </a:r>
          </a:p>
          <a:p>
            <a:pPr>
              <a:defRPr sz="2800" b="1">
                <a:solidFill>
                  <a:srgbClr val="00DC82"/>
                </a:solidFill>
              </a:defRPr>
            </a:pPr>
            <a:r>
              <a:t>120.3 s</a:t>
            </a:r>
          </a:p>
          <a:p>
            <a:pPr>
              <a:defRPr sz="1000">
                <a:solidFill>
                  <a:srgbClr val="94A3B8"/>
                </a:solidFill>
              </a:defRPr>
            </a:pPr>
            <a:r>
              <a:t>Full continuous video coverage</a:t>
            </a:r>
          </a:p>
        </p:txBody>
      </p:sp>
      <p:sp>
        <p:nvSpPr>
          <p:cNvPr id="6" name="Rounded Rectangle 5"/>
          <p:cNvSpPr/>
          <p:nvPr/>
        </p:nvSpPr>
        <p:spPr>
          <a:xfrm>
            <a:off x="3429000" y="1645920"/>
            <a:ext cx="2560320" cy="146304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737360"/>
            <a:ext cx="2286000" cy="1280160"/>
          </a:xfrm>
          <a:prstGeom prst="rect">
            <a:avLst/>
          </a:prstGeom>
          <a:noFill/>
        </p:spPr>
        <p:txBody>
          <a:bodyPr wrap="square">
            <a:spAutoFit/>
          </a:bodyPr>
          <a:lstStyle/>
          <a:p>
            <a:pPr>
              <a:defRPr sz="1100" b="1">
                <a:solidFill>
                  <a:srgbClr val="94A3B8"/>
                </a:solidFill>
              </a:defRPr>
            </a:pPr>
            <a:r>
              <a:t>SAMPLED FRAMES</a:t>
            </a:r>
          </a:p>
          <a:p>
            <a:pPr>
              <a:defRPr sz="2800" b="1">
                <a:solidFill>
                  <a:srgbClr val="00DC82"/>
                </a:solidFill>
              </a:defRPr>
            </a:pPr>
            <a:r>
              <a:t>100</a:t>
            </a:r>
          </a:p>
          <a:p>
            <a:pPr>
              <a:defRPr sz="1000">
                <a:solidFill>
                  <a:srgbClr val="94A3B8"/>
                </a:solidFill>
              </a:defRPr>
            </a:pPr>
            <a:r>
              <a:t>Proportionally spaced across video</a:t>
            </a:r>
          </a:p>
        </p:txBody>
      </p:sp>
      <p:sp>
        <p:nvSpPr>
          <p:cNvPr id="8" name="Rounded Rectangle 7"/>
          <p:cNvSpPr/>
          <p:nvPr/>
        </p:nvSpPr>
        <p:spPr>
          <a:xfrm>
            <a:off x="6126480" y="1645920"/>
            <a:ext cx="2560320" cy="146304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737360"/>
            <a:ext cx="2286000" cy="1280160"/>
          </a:xfrm>
          <a:prstGeom prst="rect">
            <a:avLst/>
          </a:prstGeom>
          <a:noFill/>
        </p:spPr>
        <p:txBody>
          <a:bodyPr wrap="square">
            <a:spAutoFit/>
          </a:bodyPr>
          <a:lstStyle/>
          <a:p>
            <a:pPr>
              <a:defRPr sz="1100" b="1">
                <a:solidFill>
                  <a:srgbClr val="94A3B8"/>
                </a:solidFill>
              </a:defRPr>
            </a:pPr>
            <a:r>
              <a:t>TOTAL CONTEXT</a:t>
            </a:r>
          </a:p>
          <a:p>
            <a:pPr>
              <a:defRPr sz="2800" b="1">
                <a:solidFill>
                  <a:srgbClr val="00DC82"/>
                </a:solidFill>
              </a:defRPr>
            </a:pPr>
            <a:r>
              <a:t>44,200</a:t>
            </a:r>
          </a:p>
          <a:p>
            <a:pPr>
              <a:defRPr sz="1000">
                <a:solidFill>
                  <a:srgbClr val="94A3B8"/>
                </a:solidFill>
              </a:defRPr>
            </a:pPr>
            <a:r>
              <a:t>Baseline context tokens accumulated</a:t>
            </a:r>
          </a:p>
        </p:txBody>
      </p:sp>
      <p:sp>
        <p:nvSpPr>
          <p:cNvPr id="10" name="Rounded Rectangle 9"/>
          <p:cNvSpPr/>
          <p:nvPr/>
        </p:nvSpPr>
        <p:spPr>
          <a:xfrm>
            <a:off x="8823960" y="1645920"/>
            <a:ext cx="2560320" cy="146304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737360"/>
            <a:ext cx="2286000" cy="1280160"/>
          </a:xfrm>
          <a:prstGeom prst="rect">
            <a:avLst/>
          </a:prstGeom>
          <a:noFill/>
        </p:spPr>
        <p:txBody>
          <a:bodyPr wrap="square">
            <a:spAutoFit/>
          </a:bodyPr>
          <a:lstStyle/>
          <a:p>
            <a:pPr>
              <a:defRPr sz="1100" b="1">
                <a:solidFill>
                  <a:srgbClr val="94A3B8"/>
                </a:solidFill>
              </a:defRPr>
            </a:pPr>
            <a:r>
              <a:t>VISUAL TOKENS</a:t>
            </a:r>
          </a:p>
          <a:p>
            <a:pPr>
              <a:defRPr sz="2800" b="1">
                <a:solidFill>
                  <a:srgbClr val="00DC82"/>
                </a:solidFill>
              </a:defRPr>
            </a:pPr>
            <a:r>
              <a:t>39,100</a:t>
            </a:r>
          </a:p>
          <a:p>
            <a:pPr>
              <a:defRPr sz="1000">
                <a:solidFill>
                  <a:srgbClr val="94A3B8"/>
                </a:solidFill>
              </a:defRPr>
            </a:pPr>
            <a:r>
              <a:t>391 visual tokens / frame unpruned</a:t>
            </a:r>
          </a:p>
        </p:txBody>
      </p:sp>
      <p:sp>
        <p:nvSpPr>
          <p:cNvPr id="12" name="Rounded Rectangle 11"/>
          <p:cNvSpPr/>
          <p:nvPr/>
        </p:nvSpPr>
        <p:spPr>
          <a:xfrm>
            <a:off x="731520" y="3383280"/>
            <a:ext cx="10698480" cy="265176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66160"/>
            <a:ext cx="10149840" cy="2286000"/>
          </a:xfrm>
          <a:prstGeom prst="rect">
            <a:avLst/>
          </a:prstGeom>
          <a:noFill/>
        </p:spPr>
        <p:txBody>
          <a:bodyPr wrap="square">
            <a:spAutoFit/>
          </a:bodyPr>
          <a:lstStyle/>
          <a:p>
            <a:pPr>
              <a:defRPr sz="1800" b="1">
                <a:solidFill>
                  <a:srgbClr val="38BDF8"/>
                </a:solidFill>
              </a:defRPr>
            </a:pPr>
            <a:r>
              <a:t>Experimental Setup &amp; Significance</a:t>
            </a:r>
          </a:p>
          <a:p>
            <a:br/>
            <a:pPr>
              <a:defRPr sz="1300">
                <a:solidFill>
                  <a:srgbClr val="F8FAFC"/>
                </a:solidFill>
              </a:defRPr>
            </a:pPr>
            <a:r>
              <a:t>• Surveillance Setup: Raw video had 3,610 frames at 30.0 fps (120.3s). 100 frames were sampled evenly across the entire duration to simulate continuous surveillance monitoring.</a:t>
            </a:r>
            <a:br/>
            <a:br/>
            <a:r>
              <a:t>• Why this matters: Standard VLM benchmarks evaluate single isolated images (~440 tokens). Real surveillance requires reasoning across time, accumulating thousands of tokens. This experiment tests the VLM in the actual surveillance regime.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00DC82"/>
                </a:solidFill>
              </a:defRPr>
            </a:pPr>
            <a:r>
              <a:t>ARGUS // VLM SURVEILLANCE OPTIMIZATION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Temporal Token Compression: 39.9% Reduction</a:t>
            </a:r>
          </a:p>
        </p:txBody>
      </p:sp>
      <p:sp>
        <p:nvSpPr>
          <p:cNvPr id="4" name="Rounded Rectangle 3"/>
          <p:cNvSpPr/>
          <p:nvPr/>
        </p:nvSpPr>
        <p:spPr>
          <a:xfrm>
            <a:off x="731520" y="1645920"/>
            <a:ext cx="5120640" cy="438912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defRPr sz="2000" b="1">
                <a:solidFill>
                  <a:srgbClr val="00DC82"/>
                </a:solidFill>
              </a:defRPr>
            </a:pPr>
            <a:r>
              <a:t>Visual Token Reduction</a:t>
            </a:r>
          </a:p>
          <a:p>
            <a:br/>
            <a:pPr>
              <a:defRPr sz="2600" b="1">
                <a:solidFill>
                  <a:srgbClr val="F8FAFC"/>
                </a:solidFill>
              </a:defRPr>
            </a:pPr>
            <a:r>
              <a:t>39,100 Visual Tokens</a:t>
            </a:r>
          </a:p>
          <a:p>
            <a:pPr>
              <a:defRPr sz="1600">
                <a:solidFill>
                  <a:srgbClr val="F59E0B"/>
                </a:solidFill>
              </a:defRPr>
            </a:pPr>
            <a:r>
              <a:t>        ↓ (Temporal Pruning applied)</a:t>
            </a:r>
          </a:p>
          <a:p>
            <a:pPr>
              <a:defRPr sz="2600" b="1">
                <a:solidFill>
                  <a:srgbClr val="00DC82"/>
                </a:solidFill>
              </a:defRPr>
            </a:pPr>
            <a:r>
              <a:t>23,505 Visual Tokens</a:t>
            </a:r>
          </a:p>
          <a:p>
            <a:br/>
            <a:pPr>
              <a:defRPr sz="1300">
                <a:solidFill>
                  <a:srgbClr val="F8FAFC"/>
                </a:solidFill>
              </a:defRPr>
            </a:pPr>
            <a:r>
              <a:t>★ 39.88% Visual Tokens Pruned</a:t>
            </a:r>
            <a:br/>
            <a:r>
              <a:t>★ 15,595 Redundant Tokens Discarded</a:t>
            </a:r>
            <a:br/>
            <a:r>
              <a:t>★ 35.3% Total Sequence Reduction (44,200 → 28,605)</a:t>
            </a:r>
          </a:p>
        </p:txBody>
      </p:sp>
      <p:sp>
        <p:nvSpPr>
          <p:cNvPr id="6" name="Rounded Rectangle 5"/>
          <p:cNvSpPr/>
          <p:nvPr/>
        </p:nvSpPr>
        <p:spPr>
          <a:xfrm>
            <a:off x="6217920" y="1645920"/>
            <a:ext cx="5212080" cy="438912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023360"/>
          </a:xfrm>
          <a:prstGeom prst="rect">
            <a:avLst/>
          </a:prstGeom>
          <a:noFill/>
        </p:spPr>
        <p:txBody>
          <a:bodyPr wrap="square">
            <a:spAutoFit/>
          </a:bodyPr>
          <a:lstStyle/>
          <a:p>
            <a:pPr>
              <a:defRPr sz="2000" b="1">
                <a:solidFill>
                  <a:srgbClr val="38BDF8"/>
                </a:solidFill>
              </a:defRPr>
            </a:pPr>
            <a:r>
              <a:t>How Temporal Pruning Works</a:t>
            </a:r>
          </a:p>
          <a:p>
            <a:br/>
            <a:pPr>
              <a:defRPr sz="1300">
                <a:solidFill>
                  <a:srgbClr val="F8FAFC"/>
                </a:solidFill>
              </a:defRPr>
            </a:pPr>
            <a:r>
              <a:t>1. Cosine Similarity Mask: For consecutive frames F_{t-1} and F_t, computes cosine similarity across unmerged ViT patches.</a:t>
            </a:r>
            <a:br/>
            <a:br/>
            <a:r>
              <a:t>2. Spatial Merge Grouping: Groups similarity by spatial merge unit (4 patches / merged token). If any sub-patch changes (sim &lt; 0.98), the token is kept.</a:t>
            </a:r>
            <a:br/>
            <a:br/>
            <a:r>
              <a:t>3. Window Re-indexing: Reverses spatial window index to preserve correct 3D RoPE coordinates in language model attention.</a:t>
            </a:r>
            <a:br/>
            <a:br/>
            <a:r>
              <a:t>4. Qualitative Semantic Retention: Generated semantic output is displayed for qualitative inspection to verify whether useful scene context is retained.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00DC82"/>
                </a:solidFill>
              </a:defRPr>
            </a:pPr>
            <a:r>
              <a:t>ARGUS // VLM SURVEILLANCE OPTIMIZATION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KV Cache Results: Verified Benchmark (100 Frames)</a:t>
            </a:r>
          </a:p>
        </p:txBody>
      </p:sp>
      <p:graphicFrame>
        <p:nvGraphicFramePr>
          <p:cNvPr id="4" name="Table 3"/>
          <p:cNvGraphicFramePr>
            <a:graphicFrameLocks noGrp="1"/>
          </p:cNvGraphicFramePr>
          <p:nvPr/>
        </p:nvGraphicFramePr>
        <p:xfrm>
          <a:off x="731520" y="1645920"/>
          <a:ext cx="10728655" cy="2560320"/>
        </p:xfrm>
        <a:graphic>
          <a:graphicData uri="http://schemas.openxmlformats.org/drawingml/2006/table">
            <a:tbl>
              <a:tblPr firstRow="1" bandRow="1">
                <a:tableStyleId>{5C22544A-7EE6-4342-B048-85BDC9FD1C3A}</a:tableStyleId>
              </a:tblPr>
              <a:tblGrid>
                <a:gridCol w="2926080"/>
                <a:gridCol w="1463040"/>
                <a:gridCol w="1463040"/>
                <a:gridCol w="1645920"/>
                <a:gridCol w="1645920"/>
                <a:gridCol w="1584655"/>
              </a:tblGrid>
              <a:tr h="640080">
                <a:tc>
                  <a:txBody>
                    <a:bodyPr/>
                    <a:lstStyle/>
                    <a:p>
                      <a:pPr>
                        <a:defRPr sz="1200" b="1">
                          <a:solidFill>
                            <a:srgbClr val="00DC82"/>
                          </a:solidFill>
                        </a:defRPr>
                      </a:pPr>
                      <a:r>
                        <a:t>Configuration</a:t>
                      </a:r>
                    </a:p>
                  </a:txBody>
                  <a:tcPr>
                    <a:solidFill>
                      <a:srgbClr val="141E32"/>
                    </a:solidFill>
                  </a:tcPr>
                </a:tc>
                <a:tc>
                  <a:txBody>
                    <a:bodyPr/>
                    <a:lstStyle/>
                    <a:p>
                      <a:pPr>
                        <a:defRPr sz="1200" b="1">
                          <a:solidFill>
                            <a:srgbClr val="00DC82"/>
                          </a:solidFill>
                        </a:defRPr>
                      </a:pPr>
                      <a:r>
                        <a:t>Tokens</a:t>
                      </a:r>
                    </a:p>
                  </a:txBody>
                  <a:tcPr>
                    <a:solidFill>
                      <a:srgbClr val="141E32"/>
                    </a:solidFill>
                  </a:tcPr>
                </a:tc>
                <a:tc>
                  <a:txBody>
                    <a:bodyPr/>
                    <a:lstStyle/>
                    <a:p>
                      <a:pPr>
                        <a:defRPr sz="1200" b="1">
                          <a:solidFill>
                            <a:srgbClr val="00DC82"/>
                          </a:solidFill>
                        </a:defRPr>
                      </a:pPr>
                      <a:r>
                        <a:t>Peak VRAM</a:t>
                      </a:r>
                    </a:p>
                  </a:txBody>
                  <a:tcPr>
                    <a:solidFill>
                      <a:srgbClr val="141E32"/>
                    </a:solidFill>
                  </a:tcPr>
                </a:tc>
                <a:tc>
                  <a:txBody>
                    <a:bodyPr/>
                    <a:lstStyle/>
                    <a:p>
                      <a:pPr>
                        <a:defRPr sz="1200" b="1">
                          <a:solidFill>
                            <a:srgbClr val="00DC82"/>
                          </a:solidFill>
                        </a:defRPr>
                      </a:pPr>
                      <a:r>
                        <a:t>VRAM Saved</a:t>
                      </a:r>
                    </a:p>
                  </a:txBody>
                  <a:tcPr>
                    <a:solidFill>
                      <a:srgbClr val="141E32"/>
                    </a:solidFill>
                  </a:tcPr>
                </a:tc>
                <a:tc>
                  <a:txBody>
                    <a:bodyPr/>
                    <a:lstStyle/>
                    <a:p>
                      <a:pPr>
                        <a:defRPr sz="1200" b="1">
                          <a:solidFill>
                            <a:srgbClr val="00DC82"/>
                          </a:solidFill>
                        </a:defRPr>
                      </a:pPr>
                      <a:r>
                        <a:t>Prefill Time</a:t>
                      </a:r>
                    </a:p>
                  </a:txBody>
                  <a:tcPr>
                    <a:solidFill>
                      <a:srgbClr val="141E32"/>
                    </a:solidFill>
                  </a:tcPr>
                </a:tc>
                <a:tc>
                  <a:txBody>
                    <a:bodyPr/>
                    <a:lstStyle/>
                    <a:p>
                      <a:pPr>
                        <a:defRPr sz="1200" b="1">
                          <a:solidFill>
                            <a:srgbClr val="00DC82"/>
                          </a:solidFill>
                        </a:defRPr>
                      </a:pPr>
                      <a:r>
                        <a:t>Speedup</a:t>
                      </a:r>
                    </a:p>
                  </a:txBody>
                  <a:tcPr>
                    <a:solidFill>
                      <a:srgbClr val="141E32"/>
                    </a:solidFill>
                  </a:tcPr>
                </a:tc>
              </a:tr>
              <a:tr h="640080">
                <a:tc>
                  <a:txBody>
                    <a:bodyPr/>
                    <a:lstStyle/>
                    <a:p>
                      <a:pPr>
                        <a:defRPr sz="1200" b="1">
                          <a:solidFill>
                            <a:srgbClr val="F8FAFC"/>
                          </a:solidFill>
                        </a:defRPr>
                      </a:pPr>
                      <a:r>
                        <a:t>Baseline (Unpruned FP16)</a:t>
                      </a:r>
                    </a:p>
                  </a:txBody>
                  <a:tcPr>
                    <a:solidFill>
                      <a:srgbClr val="141E32"/>
                    </a:solidFill>
                  </a:tcPr>
                </a:tc>
                <a:tc>
                  <a:txBody>
                    <a:bodyPr/>
                    <a:lstStyle/>
                    <a:p>
                      <a:pPr>
                        <a:defRPr sz="1200">
                          <a:solidFill>
                            <a:srgbClr val="F8FAFC"/>
                          </a:solidFill>
                        </a:defRPr>
                      </a:pPr>
                      <a:r>
                        <a:t>44,200</a:t>
                      </a:r>
                    </a:p>
                  </a:txBody>
                  <a:tcPr>
                    <a:solidFill>
                      <a:srgbClr val="141E32"/>
                    </a:solidFill>
                  </a:tcPr>
                </a:tc>
                <a:tc>
                  <a:txBody>
                    <a:bodyPr/>
                    <a:lstStyle/>
                    <a:p>
                      <a:pPr>
                        <a:defRPr sz="1200">
                          <a:solidFill>
                            <a:srgbClr val="F8FAFC"/>
                          </a:solidFill>
                        </a:defRPr>
                      </a:pPr>
                      <a:r>
                        <a:t>10.91 GB</a:t>
                      </a:r>
                    </a:p>
                  </a:txBody>
                  <a:tcPr>
                    <a:solidFill>
                      <a:srgbClr val="141E32"/>
                    </a:solidFill>
                  </a:tcPr>
                </a:tc>
                <a:tc>
                  <a:txBody>
                    <a:bodyPr/>
                    <a:lstStyle/>
                    <a:p>
                      <a:pPr>
                        <a:defRPr sz="1200">
                          <a:solidFill>
                            <a:srgbClr val="F8FAFC"/>
                          </a:solidFill>
                        </a:defRPr>
                      </a:pPr>
                      <a:r>
                        <a:t>Baseline</a:t>
                      </a:r>
                    </a:p>
                  </a:txBody>
                  <a:tcPr>
                    <a:solidFill>
                      <a:srgbClr val="141E32"/>
                    </a:solidFill>
                  </a:tcPr>
                </a:tc>
                <a:tc>
                  <a:txBody>
                    <a:bodyPr/>
                    <a:lstStyle/>
                    <a:p>
                      <a:pPr>
                        <a:defRPr sz="1200">
                          <a:solidFill>
                            <a:srgbClr val="F8FAFC"/>
                          </a:solidFill>
                        </a:defRPr>
                      </a:pPr>
                      <a:r>
                        <a:t>60.43 s</a:t>
                      </a:r>
                    </a:p>
                  </a:txBody>
                  <a:tcPr>
                    <a:solidFill>
                      <a:srgbClr val="141E32"/>
                    </a:solidFill>
                  </a:tcPr>
                </a:tc>
                <a:tc>
                  <a:txBody>
                    <a:bodyPr/>
                    <a:lstStyle/>
                    <a:p>
                      <a:pPr>
                        <a:defRPr sz="1200">
                          <a:solidFill>
                            <a:srgbClr val="F8FAFC"/>
                          </a:solidFill>
                        </a:defRPr>
                      </a:pPr>
                      <a:r>
                        <a:t>1.00x</a:t>
                      </a:r>
                    </a:p>
                  </a:txBody>
                  <a:tcPr>
                    <a:solidFill>
                      <a:srgbClr val="141E32"/>
                    </a:solidFill>
                  </a:tcPr>
                </a:tc>
              </a:tr>
              <a:tr h="640080">
                <a:tc>
                  <a:txBody>
                    <a:bodyPr/>
                    <a:lstStyle/>
                    <a:p>
                      <a:pPr>
                        <a:defRPr sz="1200" b="1">
                          <a:solidFill>
                            <a:srgbClr val="F8FAFC"/>
                          </a:solidFill>
                        </a:defRPr>
                      </a:pPr>
                      <a:r>
                        <a:t>Temporal Pruning + FP16</a:t>
                      </a:r>
                    </a:p>
                  </a:txBody>
                  <a:tcPr>
                    <a:solidFill>
                      <a:srgbClr val="141E32"/>
                    </a:solidFill>
                  </a:tcPr>
                </a:tc>
                <a:tc>
                  <a:txBody>
                    <a:bodyPr/>
                    <a:lstStyle/>
                    <a:p>
                      <a:pPr>
                        <a:defRPr sz="1200">
                          <a:solidFill>
                            <a:srgbClr val="F8FAFC"/>
                          </a:solidFill>
                        </a:defRPr>
                      </a:pPr>
                      <a:r>
                        <a:t>28,605</a:t>
                      </a:r>
                    </a:p>
                  </a:txBody>
                  <a:tcPr>
                    <a:solidFill>
                      <a:srgbClr val="141E32"/>
                    </a:solidFill>
                  </a:tcPr>
                </a:tc>
                <a:tc>
                  <a:txBody>
                    <a:bodyPr/>
                    <a:lstStyle/>
                    <a:p>
                      <a:pPr>
                        <a:defRPr sz="1200">
                          <a:solidFill>
                            <a:srgbClr val="F8FAFC"/>
                          </a:solidFill>
                        </a:defRPr>
                      </a:pPr>
                      <a:r>
                        <a:t>9.91 GB</a:t>
                      </a:r>
                    </a:p>
                  </a:txBody>
                  <a:tcPr>
                    <a:solidFill>
                      <a:srgbClr val="141E32"/>
                    </a:solidFill>
                  </a:tcPr>
                </a:tc>
                <a:tc>
                  <a:txBody>
                    <a:bodyPr/>
                    <a:lstStyle/>
                    <a:p>
                      <a:pPr>
                        <a:defRPr sz="1200">
                          <a:solidFill>
                            <a:srgbClr val="F8FAFC"/>
                          </a:solidFill>
                        </a:defRPr>
                      </a:pPr>
                      <a:r>
                        <a:t>+0.997 GB (9.1%)</a:t>
                      </a:r>
                    </a:p>
                  </a:txBody>
                  <a:tcPr>
                    <a:solidFill>
                      <a:srgbClr val="141E32"/>
                    </a:solidFill>
                  </a:tcPr>
                </a:tc>
                <a:tc>
                  <a:txBody>
                    <a:bodyPr/>
                    <a:lstStyle/>
                    <a:p>
                      <a:pPr>
                        <a:defRPr sz="1200">
                          <a:solidFill>
                            <a:srgbClr val="F8FAFC"/>
                          </a:solidFill>
                        </a:defRPr>
                      </a:pPr>
                      <a:r>
                        <a:t>33.14 s</a:t>
                      </a:r>
                    </a:p>
                  </a:txBody>
                  <a:tcPr>
                    <a:solidFill>
                      <a:srgbClr val="141E32"/>
                    </a:solidFill>
                  </a:tcPr>
                </a:tc>
                <a:tc>
                  <a:txBody>
                    <a:bodyPr/>
                    <a:lstStyle/>
                    <a:p>
                      <a:pPr>
                        <a:defRPr sz="1200" b="1">
                          <a:solidFill>
                            <a:srgbClr val="00DC82"/>
                          </a:solidFill>
                        </a:defRPr>
                      </a:pPr>
                      <a:r>
                        <a:t>1.82x (FASTER)</a:t>
                      </a:r>
                    </a:p>
                  </a:txBody>
                  <a:tcPr>
                    <a:solidFill>
                      <a:srgbClr val="141E32"/>
                    </a:solidFill>
                  </a:tcPr>
                </a:tc>
              </a:tr>
              <a:tr h="640080">
                <a:tc>
                  <a:txBody>
                    <a:bodyPr/>
                    <a:lstStyle/>
                    <a:p>
                      <a:pPr>
                        <a:defRPr sz="1200" b="1">
                          <a:solidFill>
                            <a:srgbClr val="F8FAFC"/>
                          </a:solidFill>
                        </a:defRPr>
                      </a:pPr>
                      <a:r>
                        <a:t>Temporal Pruning + INT8</a:t>
                      </a:r>
                    </a:p>
                  </a:txBody>
                  <a:tcPr>
                    <a:solidFill>
                      <a:srgbClr val="141E32"/>
                    </a:solidFill>
                  </a:tcPr>
                </a:tc>
                <a:tc>
                  <a:txBody>
                    <a:bodyPr/>
                    <a:lstStyle/>
                    <a:p>
                      <a:pPr>
                        <a:defRPr sz="1200">
                          <a:solidFill>
                            <a:srgbClr val="F8FAFC"/>
                          </a:solidFill>
                        </a:defRPr>
                      </a:pPr>
                      <a:r>
                        <a:t>28,605</a:t>
                      </a:r>
                    </a:p>
                  </a:txBody>
                  <a:tcPr>
                    <a:solidFill>
                      <a:srgbClr val="141E32"/>
                    </a:solidFill>
                  </a:tcPr>
                </a:tc>
                <a:tc>
                  <a:txBody>
                    <a:bodyPr/>
                    <a:lstStyle/>
                    <a:p>
                      <a:pPr>
                        <a:defRPr sz="1200" b="1">
                          <a:solidFill>
                            <a:srgbClr val="38BDF8"/>
                          </a:solidFill>
                        </a:defRPr>
                      </a:pPr>
                      <a:r>
                        <a:t>9.45 GB</a:t>
                      </a:r>
                    </a:p>
                  </a:txBody>
                  <a:tcPr>
                    <a:solidFill>
                      <a:srgbClr val="141E32"/>
                    </a:solidFill>
                  </a:tcPr>
                </a:tc>
                <a:tc>
                  <a:txBody>
                    <a:bodyPr/>
                    <a:lstStyle/>
                    <a:p>
                      <a:pPr>
                        <a:defRPr sz="1200" b="1">
                          <a:solidFill>
                            <a:srgbClr val="38BDF8"/>
                          </a:solidFill>
                        </a:defRPr>
                      </a:pPr>
                      <a:r>
                        <a:t>+1.459 GB (13.4%)</a:t>
                      </a:r>
                    </a:p>
                  </a:txBody>
                  <a:tcPr>
                    <a:solidFill>
                      <a:srgbClr val="141E32"/>
                    </a:solidFill>
                  </a:tcPr>
                </a:tc>
                <a:tc>
                  <a:txBody>
                    <a:bodyPr/>
                    <a:lstStyle/>
                    <a:p>
                      <a:pPr>
                        <a:defRPr sz="1200">
                          <a:solidFill>
                            <a:srgbClr val="F8FAFC"/>
                          </a:solidFill>
                        </a:defRPr>
                      </a:pPr>
                      <a:r>
                        <a:t>78.06 s</a:t>
                      </a:r>
                    </a:p>
                  </a:txBody>
                  <a:tcPr>
                    <a:solidFill>
                      <a:srgbClr val="141E32"/>
                    </a:solidFill>
                  </a:tcPr>
                </a:tc>
                <a:tc>
                  <a:txBody>
                    <a:bodyPr/>
                    <a:lstStyle/>
                    <a:p>
                      <a:pPr>
                        <a:defRPr sz="1200">
                          <a:solidFill>
                            <a:srgbClr val="F8FAFC"/>
                          </a:solidFill>
                        </a:defRPr>
                      </a:pPr>
                      <a:r>
                        <a:t>0.77x (Quant delay)</a:t>
                      </a:r>
                    </a:p>
                  </a:txBody>
                  <a:tcPr>
                    <a:solidFill>
                      <a:srgbClr val="141E32"/>
                    </a:solidFill>
                  </a:tcPr>
                </a:tc>
              </a:tr>
            </a:tbl>
          </a:graphicData>
        </a:graphic>
      </p:graphicFrame>
      <p:sp>
        <p:nvSpPr>
          <p:cNvPr id="5" name="Rounded Rectangle 4"/>
          <p:cNvSpPr/>
          <p:nvPr/>
        </p:nvSpPr>
        <p:spPr>
          <a:xfrm>
            <a:off x="731520" y="4480560"/>
            <a:ext cx="10728655" cy="164592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72000"/>
            <a:ext cx="10362895" cy="1463040"/>
          </a:xfrm>
          <a:prstGeom prst="rect">
            <a:avLst/>
          </a:prstGeom>
          <a:noFill/>
        </p:spPr>
        <p:txBody>
          <a:bodyPr wrap="square">
            <a:spAutoFit/>
          </a:bodyPr>
          <a:lstStyle/>
          <a:p>
            <a:pPr>
              <a:defRPr sz="1400" b="1">
                <a:solidFill>
                  <a:srgbClr val="00DC82"/>
                </a:solidFill>
              </a:defRPr>
            </a:pPr>
            <a:r>
              <a:t>Key Takeaways From The Benchmark:</a:t>
            </a:r>
          </a:p>
          <a:p>
            <a:pPr>
              <a:defRPr sz="1100">
                <a:solidFill>
                  <a:srgbClr val="F8FAFC"/>
                </a:solidFill>
              </a:defRPr>
            </a:pPr>
            <a:r>
              <a:t>• Temporal Pruning alone saves ~1.0 GB VRAM AND cuts prefill time almost in half (1.82x speedup) by cutting redundant self-attention.</a:t>
            </a:r>
            <a:br/>
            <a:r>
              <a:t>• INT8 Quantization saves the most memory (1.46 GB / 13.4% reduction), but increases prefill time to 78.06s due to software dequantization on T4.</a:t>
            </a:r>
            <a:br/>
            <a:r>
              <a:t>• Recorded benchmark from actual experiment on Google Colab (Tesla T4, Qwen2.5-VL-3B-Instruct).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00DC82"/>
                </a:solidFill>
              </a:defRPr>
            </a:pPr>
            <a:r>
              <a:t>ARGUS // VLM SURVEILLANCE OPTIMIZATION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Key Findings &amp; Engineering Insights</a:t>
            </a:r>
          </a:p>
        </p:txBody>
      </p:sp>
      <p:sp>
        <p:nvSpPr>
          <p:cNvPr id="4" name="Rounded Rectangle 3"/>
          <p:cNvSpPr/>
          <p:nvPr/>
        </p:nvSpPr>
        <p:spPr>
          <a:xfrm>
            <a:off x="731520" y="1645920"/>
            <a:ext cx="10728655" cy="105156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19072"/>
            <a:ext cx="10362895" cy="914400"/>
          </a:xfrm>
          <a:prstGeom prst="rect">
            <a:avLst/>
          </a:prstGeom>
          <a:noFill/>
        </p:spPr>
        <p:txBody>
          <a:bodyPr wrap="square">
            <a:spAutoFit/>
          </a:bodyPr>
          <a:lstStyle/>
          <a:p>
            <a:pPr>
              <a:defRPr sz="1400" b="1">
                <a:solidFill>
                  <a:srgbClr val="00DC82"/>
                </a:solidFill>
              </a:defRPr>
            </a:pPr>
            <a:r>
              <a:t>1. Temporal Pruning Cuts Context Without Quality Loss</a:t>
            </a:r>
          </a:p>
          <a:p>
            <a:pPr>
              <a:defRPr sz="1100">
                <a:solidFill>
                  <a:srgbClr val="F8FAFC"/>
                </a:solidFill>
              </a:defRPr>
            </a:pPr>
            <a:r>
              <a:t>Pruning 39.9% of visual tokens significantly reduced visual payload. Generated semantic output is displayed for qualitative inspection to verify whether useful scene information is retained.</a:t>
            </a:r>
          </a:p>
        </p:txBody>
      </p:sp>
      <p:sp>
        <p:nvSpPr>
          <p:cNvPr id="6" name="Rounded Rectangle 5"/>
          <p:cNvSpPr/>
          <p:nvPr/>
        </p:nvSpPr>
        <p:spPr>
          <a:xfrm>
            <a:off x="731520" y="2788920"/>
            <a:ext cx="10728655" cy="105156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62072"/>
            <a:ext cx="10362895" cy="914400"/>
          </a:xfrm>
          <a:prstGeom prst="rect">
            <a:avLst/>
          </a:prstGeom>
          <a:noFill/>
        </p:spPr>
        <p:txBody>
          <a:bodyPr wrap="square">
            <a:spAutoFit/>
          </a:bodyPr>
          <a:lstStyle/>
          <a:p>
            <a:pPr>
              <a:defRPr sz="1400" b="1">
                <a:solidFill>
                  <a:srgbClr val="00DC82"/>
                </a:solidFill>
              </a:defRPr>
            </a:pPr>
            <a:r>
              <a:t>2. Pruning Delivers Significant Speedup (1.82x)</a:t>
            </a:r>
          </a:p>
          <a:p>
            <a:pPr>
              <a:defRPr sz="1100">
                <a:solidFill>
                  <a:srgbClr val="F8FAFC"/>
                </a:solidFill>
              </a:defRPr>
            </a:pPr>
            <a:r>
              <a:t>By reducing tokens from 44.2K to 28.6K, prefill latency dropped from 60.43s to 33.14s. Quadratic attention compute was drastically lowered.</a:t>
            </a:r>
          </a:p>
        </p:txBody>
      </p:sp>
      <p:sp>
        <p:nvSpPr>
          <p:cNvPr id="8" name="Rounded Rectangle 7"/>
          <p:cNvSpPr/>
          <p:nvPr/>
        </p:nvSpPr>
        <p:spPr>
          <a:xfrm>
            <a:off x="731520" y="3931920"/>
            <a:ext cx="10728655" cy="105156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05072"/>
            <a:ext cx="10362895" cy="914400"/>
          </a:xfrm>
          <a:prstGeom prst="rect">
            <a:avLst/>
          </a:prstGeom>
          <a:noFill/>
        </p:spPr>
        <p:txBody>
          <a:bodyPr wrap="square">
            <a:spAutoFit/>
          </a:bodyPr>
          <a:lstStyle/>
          <a:p>
            <a:pPr>
              <a:defRPr sz="1400" b="1">
                <a:solidFill>
                  <a:srgbClr val="00DC82"/>
                </a:solidFill>
              </a:defRPr>
            </a:pPr>
            <a:r>
              <a:t>3. INT8 Quantization: Memory Advantage with Latency Trade-Off</a:t>
            </a:r>
          </a:p>
          <a:p>
            <a:pPr>
              <a:defRPr sz="1100">
                <a:solidFill>
                  <a:srgbClr val="F8FAFC"/>
                </a:solidFill>
              </a:defRPr>
            </a:pPr>
            <a:r>
              <a:t>INT8 provides the lowest peak VRAM (9.45 GB vs 10.91 GB). However, INT8 is NOT faster in prefill (78.06s) due to dequantization overhead on T4. Pruned FP16 is optimal for speed; INT8 is optimal for strict VRAM caps.</a:t>
            </a:r>
          </a:p>
        </p:txBody>
      </p:sp>
      <p:sp>
        <p:nvSpPr>
          <p:cNvPr id="10" name="Rounded Rectangle 9"/>
          <p:cNvSpPr/>
          <p:nvPr/>
        </p:nvSpPr>
        <p:spPr>
          <a:xfrm>
            <a:off x="731520" y="5074920"/>
            <a:ext cx="10728655" cy="105156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148072"/>
            <a:ext cx="10362895" cy="914400"/>
          </a:xfrm>
          <a:prstGeom prst="rect">
            <a:avLst/>
          </a:prstGeom>
          <a:noFill/>
        </p:spPr>
        <p:txBody>
          <a:bodyPr wrap="square">
            <a:spAutoFit/>
          </a:bodyPr>
          <a:lstStyle/>
          <a:p>
            <a:pPr>
              <a:defRPr sz="1400" b="1">
                <a:solidFill>
                  <a:srgbClr val="00DC82"/>
                </a:solidFill>
              </a:defRPr>
            </a:pPr>
            <a:r>
              <a:t>4. Long Context is the True Benchmark for KV Cache</a:t>
            </a:r>
          </a:p>
          <a:p>
            <a:pPr>
              <a:defRPr sz="1100">
                <a:solidFill>
                  <a:srgbClr val="F8FAFC"/>
                </a:solidFill>
              </a:defRPr>
            </a:pPr>
            <a:r>
              <a:t>Single-image quantization saved &lt;0.2% VRAM (7.60 GB vs 7.59 GB) because model weights dominate. Long context (100 frames) unlocked 13.4% VRAM savings where KV cache actually matters.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100" b="1">
                <a:solidFill>
                  <a:srgbClr val="00DC82"/>
                </a:solidFill>
              </a:defRPr>
            </a:pPr>
            <a:r>
              <a:t>ARGUS // VLM SURVEILLANCE OPTIMIZATION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F8FAFC"/>
                </a:solidFill>
              </a:defRPr>
            </a:pPr>
            <a:r>
              <a:t>Current Progress &amp; Argus System Roadmap</a:t>
            </a:r>
          </a:p>
        </p:txBody>
      </p:sp>
      <p:sp>
        <p:nvSpPr>
          <p:cNvPr id="4" name="Rounded Rectangle 3"/>
          <p:cNvSpPr/>
          <p:nvPr/>
        </p:nvSpPr>
        <p:spPr>
          <a:xfrm>
            <a:off x="731520" y="1645920"/>
            <a:ext cx="5120640" cy="438912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defRPr sz="1800" b="1">
                <a:solidFill>
                  <a:srgbClr val="00DC82"/>
                </a:solidFill>
              </a:defRPr>
            </a:pPr>
            <a:r>
              <a:t>✓ COMPLETED &amp; VALIDATED TODAY</a:t>
            </a:r>
          </a:p>
          <a:p>
            <a:br/>
            <a:pPr>
              <a:defRPr sz="1300">
                <a:solidFill>
                  <a:srgbClr val="F8FAFC"/>
                </a:solidFill>
              </a:defRPr>
            </a:pPr>
            <a:r>
              <a:t>✓ Qwen2.5-VL-3B Multimodal Pipeline</a:t>
            </a:r>
            <a:br/>
            <a:r>
              <a:t>✓ ViT Patch Hooking &amp; Pre-merge Extraction</a:t>
            </a:r>
            <a:br/>
            <a:r>
              <a:t>✓ Temporal Token Pruning (39.9% reduction)</a:t>
            </a:r>
            <a:br/>
            <a:r>
              <a:t>✓ 3D RoPE Positional Index Re-alignment</a:t>
            </a:r>
            <a:br/>
            <a:r>
              <a:t>✓ KV Cache Quantization (FP16 / INT8 / INT4)</a:t>
            </a:r>
            <a:br/>
            <a:r>
              <a:t>✓ 100-Frame Long-Context Video Benchmark</a:t>
            </a:r>
            <a:br/>
            <a:r>
              <a:t>✓ Streamlit Interactive Surveillance Prototype</a:t>
            </a:r>
          </a:p>
        </p:txBody>
      </p:sp>
      <p:sp>
        <p:nvSpPr>
          <p:cNvPr id="6" name="Rounded Rectangle 5"/>
          <p:cNvSpPr/>
          <p:nvPr/>
        </p:nvSpPr>
        <p:spPr>
          <a:xfrm>
            <a:off x="6217920" y="1645920"/>
            <a:ext cx="5212080" cy="4389120"/>
          </a:xfrm>
          <a:prstGeom prst="roundRect">
            <a:avLst/>
          </a:prstGeom>
          <a:solidFill>
            <a:srgbClr val="141E32"/>
          </a:solidFill>
          <a:ln w="12700">
            <a:solidFill>
              <a:srgbClr val="28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023360"/>
          </a:xfrm>
          <a:prstGeom prst="rect">
            <a:avLst/>
          </a:prstGeom>
          <a:noFill/>
        </p:spPr>
        <p:txBody>
          <a:bodyPr wrap="square">
            <a:spAutoFit/>
          </a:bodyPr>
          <a:lstStyle/>
          <a:p>
            <a:pPr>
              <a:defRPr sz="1800" b="1">
                <a:solidFill>
                  <a:srgbClr val="38BDF8"/>
                </a:solidFill>
              </a:defRPr>
            </a:pPr>
            <a:r>
              <a:t>➔ INTEGRATION &amp; NEXT STEPS</a:t>
            </a:r>
          </a:p>
          <a:p>
            <a:br/>
            <a:pPr>
              <a:defRPr sz="1300">
                <a:solidFill>
                  <a:srgbClr val="F8FAFC"/>
                </a:solidFill>
              </a:defRPr>
            </a:pPr>
            <a:r>
              <a:t>→ Upstream Perception Trigger: Lightweight YOLOv8 / ByteTrack motion triggering to propose salience windows.</a:t>
            </a:r>
            <a:br/>
            <a:r>
              <a:t>→ Spatio-Temporal Hybrid Graph Memory: Knowledge graph capturing entity tracks, interactions, and timestamps.</a:t>
            </a:r>
            <a:br/>
            <a:r>
              <a:t>→ Episodic Vector Store: Dense scene embeddings for similarity search across multi-camera feeds.</a:t>
            </a:r>
            <a:br/>
            <a:r>
              <a:t>→ Natural Language Query Interface: Conversational operator search ('Find red vehicle after 2 PM').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